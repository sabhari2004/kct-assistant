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097280" y="822960"/>
            <a:ext cx="9997135" cy="5212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45920" y="1188720"/>
            <a:ext cx="8899855" cy="4480560"/>
          </a:xfrm>
          <a:prstGeom prst="rect">
            <a:avLst/>
          </a:prstGeom>
          <a:noFill/>
        </p:spPr>
        <p:txBody>
          <a:bodyPr wrap="square" lIns="0" tIns="0" rIns="0" bIns="0">
            <a:spAutoFit/>
          </a:bodyPr>
          <a:lstStyle/>
          <a:p>
            <a:pPr>
              <a:spcAft>
                <a:spcPts val="600"/>
              </a:spcAft>
              <a:defRPr sz="1200" b="1">
                <a:solidFill>
                  <a:srgbClr val="38BDF8"/>
                </a:solidFill>
                <a:latin typeface="Segoe UI"/>
              </a:defRPr>
            </a:pPr>
            <a:r>
              <a:t>ACADEMIC PROJECT REVIEW (PHASE 0)</a:t>
            </a:r>
          </a:p>
          <a:p>
            <a:pPr>
              <a:spcAft>
                <a:spcPts val="2200"/>
              </a:spcAft>
              <a:defRPr sz="2800" b="1">
                <a:solidFill>
                  <a:srgbClr val="FFFFFF"/>
                </a:solidFill>
                <a:latin typeface="Segoe UI"/>
              </a:defRPr>
            </a:pPr>
            <a:r>
              <a:t>0th Project Review Presentation</a:t>
            </a:r>
          </a:p>
          <a:p>
            <a:pPr>
              <a:spcAft>
                <a:spcPts val="800"/>
              </a:spcAft>
            </a:pPr>
            <a:r>
              <a:rPr sz="1300" b="1">
                <a:solidFill>
                  <a:srgbClr val="94A3B8"/>
                </a:solidFill>
                <a:latin typeface="Segoe UI"/>
              </a:rPr>
              <a:t>•  Course / Degree     :  </a:t>
            </a:r>
            <a:r>
              <a:rPr sz="1350" b="1">
                <a:solidFill>
                  <a:srgbClr val="FFFFFF"/>
                </a:solidFill>
                <a:latin typeface="Segoe UI"/>
              </a:rPr>
              <a:t>Master of Computer Applications (MCA — 2 Year PG)</a:t>
            </a:r>
          </a:p>
          <a:p>
            <a:pPr>
              <a:spcAft>
                <a:spcPts val="800"/>
              </a:spcAft>
            </a:pPr>
            <a:r>
              <a:rPr sz="1300" b="1">
                <a:solidFill>
                  <a:srgbClr val="94A3B8"/>
                </a:solidFill>
                <a:latin typeface="Segoe UI"/>
              </a:rPr>
              <a:t>•  Department          :  </a:t>
            </a:r>
            <a:r>
              <a:rPr sz="1350" b="1">
                <a:solidFill>
                  <a:srgbClr val="FFFFFF"/>
                </a:solidFill>
                <a:latin typeface="Segoe UI"/>
              </a:rPr>
              <a:t>Department of Computer Applications</a:t>
            </a:r>
          </a:p>
          <a:p>
            <a:pPr>
              <a:spcAft>
                <a:spcPts val="800"/>
              </a:spcAft>
            </a:pPr>
            <a:r>
              <a:rPr sz="1300" b="1">
                <a:solidFill>
                  <a:srgbClr val="94A3B8"/>
                </a:solidFill>
                <a:latin typeface="Segoe UI"/>
              </a:rPr>
              <a:t>•  Institution         :  </a:t>
            </a:r>
            <a:r>
              <a:rPr sz="1350" b="1">
                <a:solidFill>
                  <a:srgbClr val="FFFFFF"/>
                </a:solidFill>
                <a:latin typeface="Segoe UI"/>
              </a:rPr>
              <a:t>Kumaraguru College of Technology, Coimbatore</a:t>
            </a:r>
          </a:p>
          <a:p>
            <a:pPr>
              <a:spcAft>
                <a:spcPts val="800"/>
              </a:spcAft>
            </a:pPr>
            <a:r>
              <a:rPr sz="1300" b="1">
                <a:solidFill>
                  <a:srgbClr val="94A3B8"/>
                </a:solidFill>
                <a:latin typeface="Segoe UI"/>
              </a:rPr>
              <a:t>•  Affiliation         :  </a:t>
            </a:r>
            <a:r>
              <a:rPr sz="1350" b="1">
                <a:solidFill>
                  <a:srgbClr val="FFFFFF"/>
                </a:solidFill>
                <a:latin typeface="Segoe UI"/>
              </a:rPr>
              <a:t>Autonomous Institution Affiliated to Anna University</a:t>
            </a:r>
          </a:p>
          <a:p>
            <a:pPr>
              <a:spcAft>
                <a:spcPts val="800"/>
              </a:spcAft>
            </a:pPr>
            <a:r>
              <a:rPr sz="1300" b="1">
                <a:solidFill>
                  <a:srgbClr val="94A3B8"/>
                </a:solidFill>
                <a:latin typeface="Segoe UI"/>
              </a:rPr>
              <a:t>•  Academic Year       :  </a:t>
            </a:r>
            <a:r>
              <a:rPr sz="1350" b="1">
                <a:solidFill>
                  <a:srgbClr val="FFFFFF"/>
                </a:solidFill>
                <a:latin typeface="Segoe UI"/>
              </a:rPr>
              <a:t>2026 – 2027</a:t>
            </a:r>
          </a:p>
          <a:p>
            <a:pPr>
              <a:spcAft>
                <a:spcPts val="800"/>
              </a:spcAft>
            </a:pPr>
            <a:r>
              <a:rPr sz="1300" b="1">
                <a:solidFill>
                  <a:srgbClr val="94A3B8"/>
                </a:solidFill>
                <a:latin typeface="Segoe UI"/>
              </a:rPr>
              <a:t>•  Project Review      :  </a:t>
            </a:r>
            <a:r>
              <a:rPr sz="1350" b="1">
                <a:solidFill>
                  <a:srgbClr val="FFFFFF"/>
                </a:solidFill>
                <a:latin typeface="Segoe UI"/>
              </a:rPr>
              <a:t>0th Review (Problem Identification &amp; Feasibility)</a:t>
            </a:r>
          </a:p>
          <a:p>
            <a:pPr>
              <a:spcAft>
                <a:spcPts val="800"/>
              </a:spcAft>
            </a:pPr>
            <a:r>
              <a:rPr sz="1300" b="1">
                <a:solidFill>
                  <a:srgbClr val="94A3B8"/>
                </a:solidFill>
                <a:latin typeface="Segoe UI"/>
              </a:rPr>
              <a:t>•  Review Date         :  </a:t>
            </a:r>
            <a:r>
              <a:rPr sz="1350" b="1">
                <a:solidFill>
                  <a:srgbClr val="FFFFFF"/>
                </a:solidFill>
                <a:latin typeface="Segoe UI"/>
              </a:rPr>
              <a:t>21 August 2026 (During Lab Hours)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Student &amp; Academic Guide Details</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2 of 8</a:t>
            </a:r>
          </a:p>
        </p:txBody>
      </p:sp>
      <p:sp>
        <p:nvSpPr>
          <p:cNvPr id="5" name="Rounded Rectangle 4"/>
          <p:cNvSpPr/>
          <p:nvPr/>
        </p:nvSpPr>
        <p:spPr>
          <a:xfrm>
            <a:off x="731520" y="1914351"/>
            <a:ext cx="51663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828800"/>
            <a:ext cx="4526280" cy="4560223"/>
          </a:xfrm>
          <a:prstGeom prst="rect">
            <a:avLst/>
          </a:prstGeom>
          <a:noFill/>
        </p:spPr>
        <p:txBody>
          <a:bodyPr wrap="square">
            <a:spAutoFit/>
          </a:bodyPr>
          <a:lstStyle/>
          <a:p>
            <a:pPr>
              <a:spcAft>
                <a:spcPts val="1400"/>
              </a:spcAft>
              <a:defRPr sz="1200" b="1">
                <a:solidFill>
                  <a:srgbClr val="4338CA"/>
                </a:solidFill>
                <a:latin typeface="Segoe UI"/>
              </a:defRPr>
            </a:pPr>
            <a:r>
              <a:rPr dirty="0"/>
              <a:t>STUDENT INFORMATION</a:t>
            </a:r>
          </a:p>
          <a:p>
            <a:pPr>
              <a:spcAft>
                <a:spcPts val="400"/>
              </a:spcAft>
            </a:pPr>
            <a:r>
              <a:rPr sz="1000" dirty="0">
                <a:solidFill>
                  <a:srgbClr val="64748B"/>
                </a:solidFill>
                <a:latin typeface="Segoe UI"/>
              </a:rPr>
              <a:t>Student Name
</a:t>
            </a:r>
            <a:r>
              <a:rPr sz="1250" b="1" dirty="0">
                <a:solidFill>
                  <a:srgbClr val="1E293B"/>
                </a:solidFill>
                <a:latin typeface="Segoe UI"/>
              </a:rPr>
              <a:t>Shree Sabhari
</a:t>
            </a:r>
          </a:p>
          <a:p>
            <a:pPr>
              <a:spcAft>
                <a:spcPts val="400"/>
              </a:spcAft>
            </a:pPr>
            <a:r>
              <a:rPr sz="1000" dirty="0">
                <a:solidFill>
                  <a:srgbClr val="64748B"/>
                </a:solidFill>
                <a:latin typeface="Segoe UI"/>
              </a:rPr>
              <a:t>Register Number
</a:t>
            </a:r>
            <a:r>
              <a:rPr lang="en-IN" sz="1250" b="1" dirty="0">
                <a:solidFill>
                  <a:srgbClr val="1E293B"/>
                </a:solidFill>
                <a:latin typeface="Segoe UI"/>
              </a:rPr>
              <a:t>25MCA050</a:t>
            </a:r>
            <a:r>
              <a:rPr sz="1250" b="1" dirty="0">
                <a:solidFill>
                  <a:srgbClr val="1E293B"/>
                </a:solidFill>
                <a:latin typeface="Segoe UI"/>
              </a:rPr>
              <a:t>
</a:t>
            </a:r>
          </a:p>
          <a:p>
            <a:pPr>
              <a:spcAft>
                <a:spcPts val="400"/>
              </a:spcAft>
            </a:pPr>
            <a:r>
              <a:rPr sz="1000" dirty="0" err="1">
                <a:solidFill>
                  <a:srgbClr val="64748B"/>
                </a:solidFill>
                <a:latin typeface="Segoe UI"/>
              </a:rPr>
              <a:t>Programme</a:t>
            </a:r>
            <a:r>
              <a:rPr sz="1000" dirty="0">
                <a:solidFill>
                  <a:srgbClr val="64748B"/>
                </a:solidFill>
                <a:latin typeface="Segoe UI"/>
              </a:rPr>
              <a:t>
</a:t>
            </a:r>
            <a:r>
              <a:rPr sz="1250" b="1" dirty="0">
                <a:solidFill>
                  <a:srgbClr val="1E293B"/>
                </a:solidFill>
                <a:latin typeface="Segoe UI"/>
              </a:rPr>
              <a:t>Master of Computer Applications (MCA)
</a:t>
            </a:r>
          </a:p>
          <a:p>
            <a:pPr>
              <a:spcAft>
                <a:spcPts val="400"/>
              </a:spcAft>
            </a:pPr>
            <a:r>
              <a:rPr sz="1000" dirty="0">
                <a:solidFill>
                  <a:srgbClr val="64748B"/>
                </a:solidFill>
                <a:latin typeface="Segoe UI"/>
              </a:rPr>
              <a:t>Department
</a:t>
            </a:r>
            <a:r>
              <a:rPr sz="1250" b="1" dirty="0">
                <a:solidFill>
                  <a:srgbClr val="1E293B"/>
                </a:solidFill>
                <a:latin typeface="Segoe UI"/>
              </a:rPr>
              <a:t>Department of Computer Applications
</a:t>
            </a:r>
          </a:p>
          <a:p>
            <a:pPr>
              <a:spcAft>
                <a:spcPts val="400"/>
              </a:spcAft>
            </a:pPr>
            <a:r>
              <a:rPr sz="1000" dirty="0">
                <a:solidFill>
                  <a:srgbClr val="64748B"/>
                </a:solidFill>
                <a:latin typeface="Segoe UI"/>
              </a:rPr>
              <a:t>College / Institution
</a:t>
            </a:r>
            <a:r>
              <a:rPr sz="1250" b="1" dirty="0">
                <a:solidFill>
                  <a:srgbClr val="1E293B"/>
                </a:solidFill>
                <a:latin typeface="Segoe UI"/>
              </a:rPr>
              <a:t>Kumaraguru College of Technology (KCT)
</a:t>
            </a:r>
          </a:p>
          <a:p>
            <a:pPr>
              <a:spcAft>
                <a:spcPts val="400"/>
              </a:spcAft>
            </a:pPr>
            <a:r>
              <a:rPr sz="1000" dirty="0">
                <a:solidFill>
                  <a:srgbClr val="64748B"/>
                </a:solidFill>
                <a:latin typeface="Segoe UI"/>
              </a:rPr>
              <a:t>Email Address
</a:t>
            </a:r>
            <a:r>
              <a:rPr sz="1250" b="1" dirty="0">
                <a:solidFill>
                  <a:srgbClr val="1E293B"/>
                </a:solidFill>
                <a:latin typeface="Segoe UI"/>
              </a:rPr>
              <a:t>shreesabhari</a:t>
            </a:r>
            <a:r>
              <a:rPr lang="en-US" sz="1250" b="1" dirty="0">
                <a:solidFill>
                  <a:srgbClr val="1E293B"/>
                </a:solidFill>
                <a:latin typeface="Segoe UI"/>
              </a:rPr>
              <a:t>.25mca</a:t>
            </a:r>
            <a:r>
              <a:rPr sz="1250" b="1" dirty="0">
                <a:solidFill>
                  <a:srgbClr val="1E293B"/>
                </a:solidFill>
                <a:latin typeface="Segoe UI"/>
              </a:rPr>
              <a:t>@kct.ac.in
</a:t>
            </a:r>
          </a:p>
        </p:txBody>
      </p:sp>
      <p:sp>
        <p:nvSpPr>
          <p:cNvPr id="7" name="Rounded Rectangle 6"/>
          <p:cNvSpPr/>
          <p:nvPr/>
        </p:nvSpPr>
        <p:spPr>
          <a:xfrm>
            <a:off x="6294122" y="1884451"/>
            <a:ext cx="5166360" cy="4389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828800"/>
            <a:ext cx="4526280" cy="4111382"/>
          </a:xfrm>
          <a:prstGeom prst="rect">
            <a:avLst/>
          </a:prstGeom>
          <a:noFill/>
        </p:spPr>
        <p:txBody>
          <a:bodyPr wrap="square">
            <a:spAutoFit/>
          </a:bodyPr>
          <a:lstStyle/>
          <a:p>
            <a:pPr>
              <a:spcAft>
                <a:spcPts val="1400"/>
              </a:spcAft>
              <a:defRPr sz="1200" b="1">
                <a:solidFill>
                  <a:srgbClr val="4338CA"/>
                </a:solidFill>
                <a:latin typeface="Segoe UI"/>
              </a:defRPr>
            </a:pPr>
            <a:r>
              <a:rPr dirty="0"/>
              <a:t>PROJECT SUPERVISION</a:t>
            </a:r>
          </a:p>
          <a:p>
            <a:pPr>
              <a:spcAft>
                <a:spcPts val="400"/>
              </a:spcAft>
            </a:pPr>
            <a:r>
              <a:rPr sz="1000" dirty="0">
                <a:solidFill>
                  <a:srgbClr val="64748B"/>
                </a:solidFill>
                <a:latin typeface="Segoe UI"/>
              </a:rPr>
              <a:t>Project Guide
</a:t>
            </a:r>
            <a:r>
              <a:rPr lang="en-US" sz="1250" b="1" dirty="0">
                <a:solidFill>
                  <a:srgbClr val="1E293B"/>
                </a:solidFill>
                <a:latin typeface="Segoe UI"/>
              </a:rPr>
              <a:t>Dr. S. Hameed Ibrahim</a:t>
            </a:r>
            <a:r>
              <a:rPr sz="1250" b="1" dirty="0">
                <a:solidFill>
                  <a:srgbClr val="1E293B"/>
                </a:solidFill>
                <a:latin typeface="Segoe UI"/>
              </a:rPr>
              <a:t>
</a:t>
            </a:r>
          </a:p>
          <a:p>
            <a:pPr>
              <a:spcAft>
                <a:spcPts val="400"/>
              </a:spcAft>
            </a:pPr>
            <a:r>
              <a:rPr sz="1000" dirty="0">
                <a:solidFill>
                  <a:srgbClr val="64748B"/>
                </a:solidFill>
                <a:latin typeface="Segoe UI"/>
              </a:rPr>
              <a:t>Department
</a:t>
            </a:r>
            <a:r>
              <a:rPr sz="1250" b="1" dirty="0">
                <a:solidFill>
                  <a:srgbClr val="1E293B"/>
                </a:solidFill>
                <a:latin typeface="Segoe UI"/>
              </a:rPr>
              <a:t>Department of Computer Applications
</a:t>
            </a:r>
          </a:p>
          <a:p>
            <a:pPr>
              <a:spcAft>
                <a:spcPts val="400"/>
              </a:spcAft>
            </a:pPr>
            <a:r>
              <a:rPr sz="1000" dirty="0">
                <a:solidFill>
                  <a:srgbClr val="64748B"/>
                </a:solidFill>
                <a:latin typeface="Segoe UI"/>
              </a:rPr>
              <a:t>Institution
</a:t>
            </a:r>
            <a:r>
              <a:rPr sz="1250" b="1" dirty="0">
                <a:solidFill>
                  <a:srgbClr val="1E293B"/>
                </a:solidFill>
                <a:latin typeface="Segoe UI"/>
              </a:rPr>
              <a:t>Kumaraguru College of Technology, Coimbatore
</a:t>
            </a:r>
          </a:p>
          <a:p>
            <a:pPr>
              <a:spcAft>
                <a:spcPts val="400"/>
              </a:spcAft>
            </a:pPr>
            <a:r>
              <a:rPr sz="1000" dirty="0">
                <a:solidFill>
                  <a:srgbClr val="64748B"/>
                </a:solidFill>
                <a:latin typeface="Segoe UI"/>
              </a:rPr>
              <a:t>Review Milestone
</a:t>
            </a:r>
            <a:r>
              <a:rPr sz="1250" b="1" dirty="0">
                <a:solidFill>
                  <a:srgbClr val="1E293B"/>
                </a:solidFill>
                <a:latin typeface="Segoe UI"/>
              </a:rPr>
              <a:t>0th Review (Phase 0 Evaluation)
</a:t>
            </a:r>
          </a:p>
          <a:p>
            <a:pPr>
              <a:spcAft>
                <a:spcPts val="400"/>
              </a:spcAft>
            </a:pPr>
            <a:r>
              <a:rPr sz="1000" dirty="0">
                <a:solidFill>
                  <a:srgbClr val="64748B"/>
                </a:solidFill>
                <a:latin typeface="Segoe UI"/>
              </a:rPr>
              <a:t>Review Date
</a:t>
            </a:r>
            <a:r>
              <a:rPr sz="1250" b="1" dirty="0">
                <a:solidFill>
                  <a:srgbClr val="1E293B"/>
                </a:solidFill>
                <a:latin typeface="Segoe UI"/>
              </a:rPr>
              <a:t>21 August 2026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Project Title &amp; System Overview</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3 of 8</a:t>
            </a:r>
          </a:p>
        </p:txBody>
      </p:sp>
      <p:sp>
        <p:nvSpPr>
          <p:cNvPr id="5" name="Rounded Rectangle 4"/>
          <p:cNvSpPr/>
          <p:nvPr/>
        </p:nvSpPr>
        <p:spPr>
          <a:xfrm>
            <a:off x="731520" y="1600200"/>
            <a:ext cx="10728655" cy="1737360"/>
          </a:xfrm>
          <a:prstGeom prst="roundRect">
            <a:avLst/>
          </a:prstGeom>
          <a:solidFill>
            <a:srgbClr val="0F172A"/>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783080"/>
            <a:ext cx="10058400" cy="1371600"/>
          </a:xfrm>
          <a:prstGeom prst="rect">
            <a:avLst/>
          </a:prstGeom>
          <a:noFill/>
        </p:spPr>
        <p:txBody>
          <a:bodyPr wrap="square">
            <a:spAutoFit/>
          </a:bodyPr>
          <a:lstStyle/>
          <a:p>
            <a:pPr>
              <a:spcAft>
                <a:spcPts val="400"/>
              </a:spcAft>
              <a:defRPr sz="1100" b="1">
                <a:solidFill>
                  <a:srgbClr val="38BDF8"/>
                </a:solidFill>
                <a:latin typeface="Segoe UI"/>
              </a:defRPr>
            </a:pPr>
            <a:r>
              <a:t>PROJECT TITLE</a:t>
            </a:r>
          </a:p>
          <a:p>
            <a:pPr>
              <a:spcAft>
                <a:spcPts val="600"/>
              </a:spcAft>
              <a:defRPr sz="2600" b="1">
                <a:solidFill>
                  <a:srgbClr val="FFFFFF"/>
                </a:solidFill>
                <a:latin typeface="Segoe UI"/>
              </a:defRPr>
            </a:pPr>
            <a:r>
              <a:t>KCT AI College Assistant</a:t>
            </a:r>
          </a:p>
          <a:p>
            <a:pPr>
              <a:defRPr sz="1200">
                <a:solidFill>
                  <a:srgbClr val="E2E8F0"/>
                </a:solidFill>
                <a:latin typeface="Segoe UI"/>
              </a:defRPr>
            </a:pPr>
            <a:r>
              <a:t>One-line description: A full-stack, AI-powered conversational web application designed to provide instantaneous, verified institutional information and administrative management for college students and staff.</a:t>
            </a:r>
          </a:p>
        </p:txBody>
      </p:sp>
      <p:sp>
        <p:nvSpPr>
          <p:cNvPr id="7" name="Rounded Rectangle 6"/>
          <p:cNvSpPr/>
          <p:nvPr/>
        </p:nvSpPr>
        <p:spPr>
          <a:xfrm>
            <a:off x="731520" y="3611880"/>
            <a:ext cx="3332073"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3749039"/>
            <a:ext cx="2966313" cy="2194560"/>
          </a:xfrm>
          <a:prstGeom prst="rect">
            <a:avLst/>
          </a:prstGeom>
          <a:noFill/>
        </p:spPr>
        <p:txBody>
          <a:bodyPr wrap="square">
            <a:spAutoFit/>
          </a:bodyPr>
          <a:lstStyle/>
          <a:p>
            <a:pPr>
              <a:spcAft>
                <a:spcPts val="800"/>
              </a:spcAft>
              <a:defRPr sz="1200" b="1">
                <a:solidFill>
                  <a:srgbClr val="4338CA"/>
                </a:solidFill>
                <a:latin typeface="Segoe UI"/>
              </a:defRPr>
            </a:pPr>
            <a:r>
              <a:t>💬 Student AI Chat Portal</a:t>
            </a:r>
          </a:p>
          <a:p>
            <a:pPr>
              <a:spcAft>
                <a:spcPts val="500"/>
              </a:spcAft>
              <a:defRPr sz="1050">
                <a:solidFill>
                  <a:srgbClr val="1E293B"/>
                </a:solidFill>
                <a:latin typeface="Segoe UI"/>
              </a:defRPr>
            </a:pPr>
            <a:r>
              <a:t>•  Answers questions on academics, 2-year MCA syllabus, and exams.</a:t>
            </a:r>
          </a:p>
          <a:p>
            <a:pPr>
              <a:spcAft>
                <a:spcPts val="500"/>
              </a:spcAft>
              <a:defRPr sz="1050">
                <a:solidFill>
                  <a:srgbClr val="1E293B"/>
                </a:solidFill>
                <a:latin typeface="Segoe UI"/>
              </a:defRPr>
            </a:pPr>
            <a:r>
              <a:t>•  Supports bilingual interaction: English, Tamil, and Tanglish.</a:t>
            </a:r>
          </a:p>
          <a:p>
            <a:pPr>
              <a:spcAft>
                <a:spcPts val="500"/>
              </a:spcAft>
              <a:defRPr sz="1050">
                <a:solidFill>
                  <a:srgbClr val="1E293B"/>
                </a:solidFill>
                <a:latin typeface="Segoe UI"/>
              </a:defRPr>
            </a:pPr>
            <a:r>
              <a:t>•  Stores chat history chronologically using Cloud Firestore.</a:t>
            </a:r>
          </a:p>
        </p:txBody>
      </p:sp>
      <p:sp>
        <p:nvSpPr>
          <p:cNvPr id="9" name="Rounded Rectangle 8"/>
          <p:cNvSpPr/>
          <p:nvPr/>
        </p:nvSpPr>
        <p:spPr>
          <a:xfrm>
            <a:off x="4429353" y="3611880"/>
            <a:ext cx="3332073"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2233" y="3749039"/>
            <a:ext cx="2966313" cy="2194560"/>
          </a:xfrm>
          <a:prstGeom prst="rect">
            <a:avLst/>
          </a:prstGeom>
          <a:noFill/>
        </p:spPr>
        <p:txBody>
          <a:bodyPr wrap="square">
            <a:spAutoFit/>
          </a:bodyPr>
          <a:lstStyle/>
          <a:p>
            <a:pPr>
              <a:spcAft>
                <a:spcPts val="800"/>
              </a:spcAft>
              <a:defRPr sz="1200" b="1">
                <a:solidFill>
                  <a:srgbClr val="4338CA"/>
                </a:solidFill>
                <a:latin typeface="Segoe UI"/>
              </a:defRPr>
            </a:pPr>
            <a:r>
              <a:t>⚡ Verified Knowledge Base</a:t>
            </a:r>
          </a:p>
          <a:p>
            <a:pPr>
              <a:spcAft>
                <a:spcPts val="500"/>
              </a:spcAft>
              <a:defRPr sz="1050">
                <a:solidFill>
                  <a:srgbClr val="1E293B"/>
                </a:solidFill>
                <a:latin typeface="Segoe UI"/>
              </a:defRPr>
            </a:pPr>
            <a:r>
              <a:t>•  Injected with factual KCT institutional ground truth.</a:t>
            </a:r>
          </a:p>
          <a:p>
            <a:pPr>
              <a:spcAft>
                <a:spcPts val="500"/>
              </a:spcAft>
              <a:defRPr sz="1050">
                <a:solidFill>
                  <a:srgbClr val="1E293B"/>
                </a:solidFill>
                <a:latin typeface="Segoe UI"/>
              </a:defRPr>
            </a:pPr>
            <a:r>
              <a:t>•  Covers 18+ academic programmes, departments, and facilities.</a:t>
            </a:r>
          </a:p>
          <a:p>
            <a:pPr>
              <a:spcAft>
                <a:spcPts val="500"/>
              </a:spcAft>
              <a:defRPr sz="1050">
                <a:solidFill>
                  <a:srgbClr val="1E293B"/>
                </a:solidFill>
                <a:latin typeface="Segoe UI"/>
              </a:defRPr>
            </a:pPr>
            <a:r>
              <a:t>•  Provides accurate info on MG Merit &amp; Achiever scholarships.</a:t>
            </a:r>
          </a:p>
        </p:txBody>
      </p:sp>
      <p:sp>
        <p:nvSpPr>
          <p:cNvPr id="11" name="Rounded Rectangle 10"/>
          <p:cNvSpPr/>
          <p:nvPr/>
        </p:nvSpPr>
        <p:spPr>
          <a:xfrm>
            <a:off x="8127186" y="3611880"/>
            <a:ext cx="3332073"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0066" y="3749039"/>
            <a:ext cx="2966313" cy="2194560"/>
          </a:xfrm>
          <a:prstGeom prst="rect">
            <a:avLst/>
          </a:prstGeom>
          <a:noFill/>
        </p:spPr>
        <p:txBody>
          <a:bodyPr wrap="square">
            <a:spAutoFit/>
          </a:bodyPr>
          <a:lstStyle/>
          <a:p>
            <a:pPr>
              <a:spcAft>
                <a:spcPts val="800"/>
              </a:spcAft>
              <a:defRPr sz="1200" b="1">
                <a:solidFill>
                  <a:srgbClr val="4338CA"/>
                </a:solidFill>
                <a:latin typeface="Segoe UI"/>
              </a:defRPr>
            </a:pPr>
            <a:r>
              <a:rPr dirty="0"/>
              <a:t>🛠️ Admin Management Portal</a:t>
            </a:r>
          </a:p>
          <a:p>
            <a:pPr>
              <a:spcAft>
                <a:spcPts val="500"/>
              </a:spcAft>
              <a:defRPr sz="1050">
                <a:solidFill>
                  <a:srgbClr val="1E293B"/>
                </a:solidFill>
                <a:latin typeface="Segoe UI"/>
              </a:defRPr>
            </a:pPr>
            <a:r>
              <a:rPr dirty="0"/>
              <a:t>•  Dashboard with real-time student usage and query analytics.</a:t>
            </a:r>
          </a:p>
          <a:p>
            <a:pPr>
              <a:spcAft>
                <a:spcPts val="500"/>
              </a:spcAft>
              <a:defRPr sz="1050">
                <a:solidFill>
                  <a:srgbClr val="1E293B"/>
                </a:solidFill>
                <a:latin typeface="Segoe UI"/>
              </a:defRPr>
            </a:pPr>
            <a:r>
              <a:rPr dirty="0"/>
              <a:t>•  Document upload and storage repository for official college PDFs.</a:t>
            </a:r>
          </a:p>
          <a:p>
            <a:pPr>
              <a:spcAft>
                <a:spcPts val="500"/>
              </a:spcAft>
              <a:defRPr sz="1050">
                <a:solidFill>
                  <a:srgbClr val="1E293B"/>
                </a:solidFill>
                <a:latin typeface="Segoe UI"/>
              </a:defRPr>
            </a:pPr>
            <a:r>
              <a:rPr dirty="0"/>
              <a:t>•  Centralized FAQ and Notice Board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Problem Statement</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4 of 8</a:t>
            </a:r>
          </a:p>
        </p:txBody>
      </p:sp>
      <p:sp>
        <p:nvSpPr>
          <p:cNvPr id="5" name="Rounded Rectangle 4"/>
          <p:cNvSpPr/>
          <p:nvPr/>
        </p:nvSpPr>
        <p:spPr>
          <a:xfrm>
            <a:off x="731520" y="1600200"/>
            <a:ext cx="516636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64792"/>
            <a:ext cx="4709160" cy="1819656"/>
          </a:xfrm>
          <a:prstGeom prst="rect">
            <a:avLst/>
          </a:prstGeom>
          <a:noFill/>
        </p:spPr>
        <p:txBody>
          <a:bodyPr wrap="square">
            <a:spAutoFit/>
          </a:bodyPr>
          <a:lstStyle/>
          <a:p>
            <a:pPr>
              <a:spcAft>
                <a:spcPts val="600"/>
              </a:spcAft>
              <a:defRPr sz="1200" b="1">
                <a:solidFill>
                  <a:srgbClr val="4338CA"/>
                </a:solidFill>
                <a:latin typeface="Segoe UI"/>
              </a:defRPr>
            </a:pPr>
            <a:r>
              <a:t>1. What problem currently exists?</a:t>
            </a:r>
          </a:p>
          <a:p>
            <a:pPr>
              <a:spcAft>
                <a:spcPts val="400"/>
              </a:spcAft>
              <a:defRPr sz="1050">
                <a:solidFill>
                  <a:srgbClr val="1E293B"/>
                </a:solidFill>
                <a:latin typeface="Segoe UI"/>
              </a:defRPr>
            </a:pPr>
            <a:r>
              <a:t>•  Information is scattered across separate PDFs, website pages, and notice boards.</a:t>
            </a:r>
          </a:p>
          <a:p>
            <a:pPr>
              <a:spcAft>
                <a:spcPts val="400"/>
              </a:spcAft>
              <a:defRPr sz="1050">
                <a:solidFill>
                  <a:srgbClr val="1E293B"/>
                </a:solidFill>
                <a:latin typeface="Segoe UI"/>
              </a:defRPr>
            </a:pPr>
            <a:r>
              <a:t>•  Students frequently struggle to find quick, verified answers for academic queries.</a:t>
            </a:r>
          </a:p>
        </p:txBody>
      </p:sp>
      <p:sp>
        <p:nvSpPr>
          <p:cNvPr id="7" name="Rounded Rectangle 6"/>
          <p:cNvSpPr/>
          <p:nvPr/>
        </p:nvSpPr>
        <p:spPr>
          <a:xfrm>
            <a:off x="6263640" y="1600200"/>
            <a:ext cx="516636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764792"/>
            <a:ext cx="4709160" cy="1819656"/>
          </a:xfrm>
          <a:prstGeom prst="rect">
            <a:avLst/>
          </a:prstGeom>
          <a:noFill/>
        </p:spPr>
        <p:txBody>
          <a:bodyPr wrap="square">
            <a:spAutoFit/>
          </a:bodyPr>
          <a:lstStyle/>
          <a:p>
            <a:pPr>
              <a:spcAft>
                <a:spcPts val="600"/>
              </a:spcAft>
              <a:defRPr sz="1200" b="1">
                <a:solidFill>
                  <a:srgbClr val="4338CA"/>
                </a:solidFill>
                <a:latin typeface="Segoe UI"/>
              </a:defRPr>
            </a:pPr>
            <a:r>
              <a:t>2. Who faces this problem?</a:t>
            </a:r>
          </a:p>
          <a:p>
            <a:pPr>
              <a:spcAft>
                <a:spcPts val="400"/>
              </a:spcAft>
              <a:defRPr sz="1050">
                <a:solidFill>
                  <a:srgbClr val="1E293B"/>
                </a:solidFill>
                <a:latin typeface="Segoe UI"/>
              </a:defRPr>
            </a:pPr>
            <a:r>
              <a:t>•  Enrolled students looking for syllabi, exam schedules, and scholarship rules.</a:t>
            </a:r>
          </a:p>
          <a:p>
            <a:pPr>
              <a:spcAft>
                <a:spcPts val="400"/>
              </a:spcAft>
              <a:defRPr sz="1050">
                <a:solidFill>
                  <a:srgbClr val="1E293B"/>
                </a:solidFill>
                <a:latin typeface="Segoe UI"/>
              </a:defRPr>
            </a:pPr>
            <a:r>
              <a:t>•  Prospective students inquiring about MCA eligibility and admission procedures.</a:t>
            </a:r>
          </a:p>
          <a:p>
            <a:pPr>
              <a:spcAft>
                <a:spcPts val="400"/>
              </a:spcAft>
              <a:defRPr sz="1050">
                <a:solidFill>
                  <a:srgbClr val="1E293B"/>
                </a:solidFill>
                <a:latin typeface="Segoe UI"/>
              </a:defRPr>
            </a:pPr>
            <a:r>
              <a:t>•  College staff handling repetitive queries during admission and exam periods.</a:t>
            </a:r>
          </a:p>
        </p:txBody>
      </p:sp>
      <p:sp>
        <p:nvSpPr>
          <p:cNvPr id="9" name="Rounded Rectangle 8"/>
          <p:cNvSpPr/>
          <p:nvPr/>
        </p:nvSpPr>
        <p:spPr>
          <a:xfrm>
            <a:off x="731520" y="3977639"/>
            <a:ext cx="516636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142231"/>
            <a:ext cx="4709160" cy="1819656"/>
          </a:xfrm>
          <a:prstGeom prst="rect">
            <a:avLst/>
          </a:prstGeom>
          <a:noFill/>
        </p:spPr>
        <p:txBody>
          <a:bodyPr wrap="square">
            <a:spAutoFit/>
          </a:bodyPr>
          <a:lstStyle/>
          <a:p>
            <a:pPr>
              <a:spcAft>
                <a:spcPts val="600"/>
              </a:spcAft>
              <a:defRPr sz="1200" b="1">
                <a:solidFill>
                  <a:srgbClr val="4338CA"/>
                </a:solidFill>
                <a:latin typeface="Segoe UI"/>
              </a:defRPr>
            </a:pPr>
            <a:r>
              <a:t>3. Why is the existing approach insufficient?</a:t>
            </a:r>
          </a:p>
          <a:p>
            <a:pPr>
              <a:spcAft>
                <a:spcPts val="400"/>
              </a:spcAft>
              <a:defRPr sz="1050">
                <a:solidFill>
                  <a:srgbClr val="1E293B"/>
                </a:solidFill>
                <a:latin typeface="Segoe UI"/>
              </a:defRPr>
            </a:pPr>
            <a:r>
              <a:t>•  Manual helpdesks operate only during working hours (no 24/7 access).</a:t>
            </a:r>
          </a:p>
          <a:p>
            <a:pPr>
              <a:spcAft>
                <a:spcPts val="400"/>
              </a:spcAft>
              <a:defRPr sz="1050">
                <a:solidFill>
                  <a:srgbClr val="1E293B"/>
                </a:solidFill>
                <a:latin typeface="Segoe UI"/>
              </a:defRPr>
            </a:pPr>
            <a:r>
              <a:t>•  Static college web pages require time-consuming manual document navigation.</a:t>
            </a:r>
          </a:p>
          <a:p>
            <a:pPr>
              <a:spcAft>
                <a:spcPts val="400"/>
              </a:spcAft>
              <a:defRPr sz="1050">
                <a:solidFill>
                  <a:srgbClr val="1E293B"/>
                </a:solidFill>
                <a:latin typeface="Segoe UI"/>
              </a:defRPr>
            </a:pPr>
            <a:r>
              <a:t>•  Lack of bilingual support (Tamil / Tanglish) for regional language students.</a:t>
            </a:r>
          </a:p>
        </p:txBody>
      </p:sp>
      <p:sp>
        <p:nvSpPr>
          <p:cNvPr id="11" name="Rounded Rectangle 10"/>
          <p:cNvSpPr/>
          <p:nvPr/>
        </p:nvSpPr>
        <p:spPr>
          <a:xfrm>
            <a:off x="6263640" y="3977639"/>
            <a:ext cx="516636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4142231"/>
            <a:ext cx="4709160" cy="1819656"/>
          </a:xfrm>
          <a:prstGeom prst="rect">
            <a:avLst/>
          </a:prstGeom>
          <a:noFill/>
        </p:spPr>
        <p:txBody>
          <a:bodyPr wrap="square">
            <a:spAutoFit/>
          </a:bodyPr>
          <a:lstStyle/>
          <a:p>
            <a:pPr>
              <a:spcAft>
                <a:spcPts val="600"/>
              </a:spcAft>
              <a:defRPr sz="1200" b="1">
                <a:solidFill>
                  <a:srgbClr val="4338CA"/>
                </a:solidFill>
                <a:latin typeface="Segoe UI"/>
              </a:defRPr>
            </a:pPr>
            <a:r>
              <a:t>4. Why is a new system needed?</a:t>
            </a:r>
          </a:p>
          <a:p>
            <a:pPr>
              <a:spcAft>
                <a:spcPts val="400"/>
              </a:spcAft>
              <a:defRPr sz="1050">
                <a:solidFill>
                  <a:srgbClr val="1E293B"/>
                </a:solidFill>
                <a:latin typeface="Segoe UI"/>
              </a:defRPr>
            </a:pPr>
            <a:r>
              <a:t>•  Provides a 24/7 centralized AI assistant with instant, verified responses.</a:t>
            </a:r>
          </a:p>
          <a:p>
            <a:pPr>
              <a:spcAft>
                <a:spcPts val="400"/>
              </a:spcAft>
              <a:defRPr sz="1050">
                <a:solidFill>
                  <a:srgbClr val="1E293B"/>
                </a:solidFill>
                <a:latin typeface="Segoe UI"/>
              </a:defRPr>
            </a:pPr>
            <a:r>
              <a:t>•  Significantly reduces administrative workload and repetitive inquiries.</a:t>
            </a:r>
          </a:p>
          <a:p>
            <a:pPr>
              <a:spcAft>
                <a:spcPts val="400"/>
              </a:spcAft>
              <a:defRPr sz="1050">
                <a:solidFill>
                  <a:srgbClr val="1E293B"/>
                </a:solidFill>
                <a:latin typeface="Segoe UI"/>
              </a:defRPr>
            </a:pPr>
            <a:r>
              <a:t>•  Offers an intuitive, user-friendly interface accessible on any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Project Abstract</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5 of 8</a:t>
            </a:r>
          </a:p>
        </p:txBody>
      </p:sp>
      <p:sp>
        <p:nvSpPr>
          <p:cNvPr id="5" name="Rounded Rectangle 4"/>
          <p:cNvSpPr/>
          <p:nvPr/>
        </p:nvSpPr>
        <p:spPr>
          <a:xfrm>
            <a:off x="731520" y="1600200"/>
            <a:ext cx="10728655" cy="201168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737360"/>
            <a:ext cx="10180015" cy="1737360"/>
          </a:xfrm>
          <a:prstGeom prst="rect">
            <a:avLst/>
          </a:prstGeom>
          <a:noFill/>
        </p:spPr>
        <p:txBody>
          <a:bodyPr wrap="square">
            <a:spAutoFit/>
          </a:bodyPr>
          <a:lstStyle/>
          <a:p>
            <a:pPr>
              <a:spcAft>
                <a:spcPts val="400"/>
              </a:spcAft>
              <a:defRPr sz="1100" b="1">
                <a:solidFill>
                  <a:srgbClr val="1D4ED8"/>
                </a:solidFill>
                <a:latin typeface="Segoe UI"/>
              </a:defRPr>
            </a:pPr>
            <a:r>
              <a:t>ABSTRACT (118 WORDS)</a:t>
            </a:r>
          </a:p>
          <a:p>
            <a:pPr>
              <a:lnSpc>
                <a:spcPct val="125000"/>
              </a:lnSpc>
              <a:defRPr sz="1150">
                <a:solidFill>
                  <a:srgbClr val="0F172A"/>
                </a:solidFill>
                <a:latin typeface="Segoe UI"/>
              </a:defRPr>
            </a:pPr>
            <a:r>
              <a:t>In higher education institutions, students often face delays finding reliable academic and administrative information. The KCT AI College Assistant is an intelligent web application developed for Kumaraguru College of Technology to solve this problem. Built using React 19, TypeScript, Tailwind CSS v4, Firebase, and Groq Cloud AI, the platform provides instantaneous, multi-turn answers about admissions, 2-year MCA syllabus, examinations, scholarships, and campus facilities. The system supports bilingual queries in English and Tamil/Tanglish, saves conversation histories, and includes an administrative dashboard with analytics. The application streamlines student assistance and reduces administrative workload through automated, verified responses.</a:t>
            </a:r>
          </a:p>
        </p:txBody>
      </p:sp>
      <p:sp>
        <p:nvSpPr>
          <p:cNvPr id="7" name="Rounded Rectangle 6"/>
          <p:cNvSpPr/>
          <p:nvPr/>
        </p:nvSpPr>
        <p:spPr>
          <a:xfrm>
            <a:off x="731520" y="3886200"/>
            <a:ext cx="2468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6112" y="4023360"/>
            <a:ext cx="2139696" cy="1920240"/>
          </a:xfrm>
          <a:prstGeom prst="rect">
            <a:avLst/>
          </a:prstGeom>
          <a:noFill/>
        </p:spPr>
        <p:txBody>
          <a:bodyPr wrap="square">
            <a:spAutoFit/>
          </a:bodyPr>
          <a:lstStyle/>
          <a:p>
            <a:pPr>
              <a:spcAft>
                <a:spcPts val="600"/>
              </a:spcAft>
              <a:defRPr sz="1200" b="1">
                <a:solidFill>
                  <a:srgbClr val="4338CA"/>
                </a:solidFill>
                <a:latin typeface="Segoe UI"/>
              </a:defRPr>
            </a:pPr>
            <a:r>
              <a:t>Background &amp; Problem</a:t>
            </a:r>
          </a:p>
          <a:p>
            <a:pPr>
              <a:defRPr sz="1050">
                <a:solidFill>
                  <a:srgbClr val="1E293B"/>
                </a:solidFill>
                <a:latin typeface="Segoe UI"/>
              </a:defRPr>
            </a:pPr>
            <a:r>
              <a:t>Academic information is scattered across documents, causing query delays and staff workload.</a:t>
            </a:r>
          </a:p>
        </p:txBody>
      </p:sp>
      <p:sp>
        <p:nvSpPr>
          <p:cNvPr id="9" name="Rounded Rectangle 8"/>
          <p:cNvSpPr/>
          <p:nvPr/>
        </p:nvSpPr>
        <p:spPr>
          <a:xfrm>
            <a:off x="3483864" y="3886200"/>
            <a:ext cx="2468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48456" y="4023360"/>
            <a:ext cx="2139696" cy="1920240"/>
          </a:xfrm>
          <a:prstGeom prst="rect">
            <a:avLst/>
          </a:prstGeom>
          <a:noFill/>
        </p:spPr>
        <p:txBody>
          <a:bodyPr wrap="square">
            <a:spAutoFit/>
          </a:bodyPr>
          <a:lstStyle/>
          <a:p>
            <a:pPr>
              <a:spcAft>
                <a:spcPts val="600"/>
              </a:spcAft>
              <a:defRPr sz="1200" b="1">
                <a:solidFill>
                  <a:srgbClr val="4338CA"/>
                </a:solidFill>
                <a:latin typeface="Segoe UI"/>
              </a:defRPr>
            </a:pPr>
            <a:r>
              <a:rPr dirty="0"/>
              <a:t>Proposed Solution</a:t>
            </a:r>
          </a:p>
          <a:p>
            <a:pPr>
              <a:defRPr sz="1050">
                <a:solidFill>
                  <a:srgbClr val="1E293B"/>
                </a:solidFill>
                <a:latin typeface="Segoe UI"/>
              </a:defRPr>
            </a:pPr>
            <a:r>
              <a:rPr dirty="0"/>
              <a:t>A 24/7 intelligent conversational chatbot powered by </a:t>
            </a:r>
            <a:r>
              <a:rPr dirty="0" err="1"/>
              <a:t>Groq</a:t>
            </a:r>
            <a:r>
              <a:rPr dirty="0"/>
              <a:t> LLM and verified KCT ground truth.</a:t>
            </a:r>
          </a:p>
        </p:txBody>
      </p:sp>
      <p:sp>
        <p:nvSpPr>
          <p:cNvPr id="11" name="Rounded Rectangle 10"/>
          <p:cNvSpPr/>
          <p:nvPr/>
        </p:nvSpPr>
        <p:spPr>
          <a:xfrm>
            <a:off x="6236208" y="3886200"/>
            <a:ext cx="2468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4023360"/>
            <a:ext cx="2139696" cy="1920240"/>
          </a:xfrm>
          <a:prstGeom prst="rect">
            <a:avLst/>
          </a:prstGeom>
          <a:noFill/>
        </p:spPr>
        <p:txBody>
          <a:bodyPr wrap="square">
            <a:spAutoFit/>
          </a:bodyPr>
          <a:lstStyle/>
          <a:p>
            <a:pPr>
              <a:spcAft>
                <a:spcPts val="600"/>
              </a:spcAft>
              <a:defRPr sz="1200" b="1">
                <a:solidFill>
                  <a:srgbClr val="4338CA"/>
                </a:solidFill>
                <a:latin typeface="Segoe UI"/>
              </a:defRPr>
            </a:pPr>
            <a:r>
              <a:t>Core Technologies</a:t>
            </a:r>
          </a:p>
          <a:p>
            <a:pPr>
              <a:defRPr sz="1050">
                <a:solidFill>
                  <a:srgbClr val="1E293B"/>
                </a:solidFill>
                <a:latin typeface="Segoe UI"/>
              </a:defRPr>
            </a:pPr>
            <a:r>
              <a:t>React 19, TypeScript, Tailwind CSS v4, Firebase Auth &amp; Firestore, and Groq Cloud API.</a:t>
            </a:r>
          </a:p>
        </p:txBody>
      </p:sp>
      <p:sp>
        <p:nvSpPr>
          <p:cNvPr id="13" name="Rounded Rectangle 12"/>
          <p:cNvSpPr/>
          <p:nvPr/>
        </p:nvSpPr>
        <p:spPr>
          <a:xfrm>
            <a:off x="8988552" y="3886200"/>
            <a:ext cx="246888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53144" y="4023360"/>
            <a:ext cx="2139696" cy="1920240"/>
          </a:xfrm>
          <a:prstGeom prst="rect">
            <a:avLst/>
          </a:prstGeom>
          <a:noFill/>
        </p:spPr>
        <p:txBody>
          <a:bodyPr wrap="square">
            <a:spAutoFit/>
          </a:bodyPr>
          <a:lstStyle/>
          <a:p>
            <a:pPr>
              <a:spcAft>
                <a:spcPts val="600"/>
              </a:spcAft>
              <a:defRPr sz="1200" b="1">
                <a:solidFill>
                  <a:srgbClr val="4338CA"/>
                </a:solidFill>
                <a:latin typeface="Segoe UI"/>
              </a:defRPr>
            </a:pPr>
            <a:r>
              <a:t>Expected Outcome</a:t>
            </a:r>
          </a:p>
          <a:p>
            <a:pPr>
              <a:defRPr sz="1050">
                <a:solidFill>
                  <a:srgbClr val="1E293B"/>
                </a:solidFill>
                <a:latin typeface="Segoe UI"/>
              </a:defRPr>
            </a:pPr>
            <a:r>
              <a:t>Instant query resolution, bilingual support, chat persistence, and administrative usage analytics.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Technology Stack &amp; Services Used</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6 of 8</a:t>
            </a:r>
          </a:p>
        </p:txBody>
      </p:sp>
      <p:sp>
        <p:nvSpPr>
          <p:cNvPr id="5" name="Rounded Rectangle 4"/>
          <p:cNvSpPr/>
          <p:nvPr/>
        </p:nvSpPr>
        <p:spPr>
          <a:xfrm>
            <a:off x="731520" y="1600200"/>
            <a:ext cx="246888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737360"/>
            <a:ext cx="2139696" cy="4206240"/>
          </a:xfrm>
          <a:prstGeom prst="rect">
            <a:avLst/>
          </a:prstGeom>
          <a:noFill/>
        </p:spPr>
        <p:txBody>
          <a:bodyPr wrap="square">
            <a:spAutoFit/>
          </a:bodyPr>
          <a:lstStyle/>
          <a:p>
            <a:pPr>
              <a:spcAft>
                <a:spcPts val="800"/>
              </a:spcAft>
              <a:defRPr sz="1200" b="1">
                <a:solidFill>
                  <a:srgbClr val="4338CA"/>
                </a:solidFill>
                <a:latin typeface="Segoe UI"/>
              </a:defRPr>
            </a:pPr>
            <a:r>
              <a:rPr dirty="0"/>
              <a:t>Frontend</a:t>
            </a:r>
          </a:p>
          <a:p>
            <a:pPr>
              <a:spcAft>
                <a:spcPts val="300"/>
              </a:spcAft>
            </a:pPr>
            <a:r>
              <a:rPr sz="950" b="1" dirty="0">
                <a:solidFill>
                  <a:srgbClr val="1E293B"/>
                </a:solidFill>
                <a:latin typeface="Segoe UI"/>
              </a:rPr>
              <a:t>• React 19: </a:t>
            </a:r>
            <a:r>
              <a:rPr sz="900" dirty="0">
                <a:solidFill>
                  <a:srgbClr val="64748B"/>
                </a:solidFill>
                <a:latin typeface="Segoe UI"/>
              </a:rPr>
              <a:t>Modern UI component framework</a:t>
            </a:r>
          </a:p>
          <a:p>
            <a:pPr>
              <a:spcAft>
                <a:spcPts val="300"/>
              </a:spcAft>
            </a:pPr>
            <a:r>
              <a:rPr sz="950" b="1" dirty="0">
                <a:solidFill>
                  <a:srgbClr val="1E293B"/>
                </a:solidFill>
                <a:latin typeface="Segoe UI"/>
              </a:rPr>
              <a:t>• TypeScript: </a:t>
            </a:r>
            <a:r>
              <a:rPr sz="900" dirty="0">
                <a:solidFill>
                  <a:srgbClr val="64748B"/>
                </a:solidFill>
                <a:latin typeface="Segoe UI"/>
              </a:rPr>
              <a:t>Type safety and maintainability</a:t>
            </a:r>
          </a:p>
          <a:p>
            <a:pPr>
              <a:spcAft>
                <a:spcPts val="300"/>
              </a:spcAft>
            </a:pPr>
            <a:r>
              <a:rPr sz="950" b="1" dirty="0">
                <a:solidFill>
                  <a:srgbClr val="1E293B"/>
                </a:solidFill>
                <a:latin typeface="Segoe UI"/>
              </a:rPr>
              <a:t>• Vite 8: </a:t>
            </a:r>
            <a:r>
              <a:rPr sz="900" dirty="0">
                <a:solidFill>
                  <a:srgbClr val="64748B"/>
                </a:solidFill>
                <a:latin typeface="Segoe UI"/>
              </a:rPr>
              <a:t>Fast build tool and dev server</a:t>
            </a:r>
          </a:p>
          <a:p>
            <a:pPr>
              <a:spcAft>
                <a:spcPts val="300"/>
              </a:spcAft>
            </a:pPr>
            <a:r>
              <a:rPr sz="950" b="1" dirty="0">
                <a:solidFill>
                  <a:srgbClr val="1E293B"/>
                </a:solidFill>
                <a:latin typeface="Segoe UI"/>
              </a:rPr>
              <a:t>• Tailwind CSS v4: </a:t>
            </a:r>
            <a:r>
              <a:rPr sz="900" dirty="0">
                <a:solidFill>
                  <a:srgbClr val="64748B"/>
                </a:solidFill>
                <a:latin typeface="Segoe UI"/>
              </a:rPr>
              <a:t>Responsive styling &amp; dark mode</a:t>
            </a:r>
          </a:p>
          <a:p>
            <a:pPr>
              <a:spcAft>
                <a:spcPts val="300"/>
              </a:spcAft>
            </a:pPr>
            <a:r>
              <a:rPr sz="950" b="1" dirty="0">
                <a:solidFill>
                  <a:srgbClr val="1E293B"/>
                </a:solidFill>
                <a:latin typeface="Segoe UI"/>
              </a:rPr>
              <a:t>• </a:t>
            </a:r>
            <a:r>
              <a:rPr sz="950" b="1" dirty="0" err="1">
                <a:solidFill>
                  <a:srgbClr val="1E293B"/>
                </a:solidFill>
                <a:latin typeface="Segoe UI"/>
              </a:rPr>
              <a:t>Lucide</a:t>
            </a:r>
            <a:r>
              <a:rPr sz="950" b="1" dirty="0">
                <a:solidFill>
                  <a:srgbClr val="1E293B"/>
                </a:solidFill>
                <a:latin typeface="Segoe UI"/>
              </a:rPr>
              <a:t> React: </a:t>
            </a:r>
            <a:r>
              <a:rPr sz="900" dirty="0">
                <a:solidFill>
                  <a:srgbClr val="64748B"/>
                </a:solidFill>
                <a:latin typeface="Segoe UI"/>
              </a:rPr>
              <a:t>Icon library for navigation</a:t>
            </a:r>
          </a:p>
          <a:p>
            <a:pPr>
              <a:spcAft>
                <a:spcPts val="300"/>
              </a:spcAft>
            </a:pPr>
            <a:r>
              <a:rPr sz="950" b="1" dirty="0">
                <a:solidFill>
                  <a:srgbClr val="1E293B"/>
                </a:solidFill>
                <a:latin typeface="Segoe UI"/>
              </a:rPr>
              <a:t>• Recharts: </a:t>
            </a:r>
            <a:r>
              <a:rPr sz="900" dirty="0">
                <a:solidFill>
                  <a:srgbClr val="64748B"/>
                </a:solidFill>
                <a:latin typeface="Segoe UI"/>
              </a:rPr>
              <a:t>Admin dashboard analytics charts</a:t>
            </a:r>
          </a:p>
        </p:txBody>
      </p:sp>
      <p:sp>
        <p:nvSpPr>
          <p:cNvPr id="7" name="Rounded Rectangle 6"/>
          <p:cNvSpPr/>
          <p:nvPr/>
        </p:nvSpPr>
        <p:spPr>
          <a:xfrm>
            <a:off x="3483864" y="1600200"/>
            <a:ext cx="246888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48456" y="1737360"/>
            <a:ext cx="2139696" cy="2426305"/>
          </a:xfrm>
          <a:prstGeom prst="rect">
            <a:avLst/>
          </a:prstGeom>
          <a:noFill/>
        </p:spPr>
        <p:txBody>
          <a:bodyPr wrap="square">
            <a:spAutoFit/>
          </a:bodyPr>
          <a:lstStyle/>
          <a:p>
            <a:pPr>
              <a:spcAft>
                <a:spcPts val="800"/>
              </a:spcAft>
              <a:defRPr sz="1200" b="1">
                <a:solidFill>
                  <a:srgbClr val="4338CA"/>
                </a:solidFill>
                <a:latin typeface="Segoe UI"/>
              </a:defRPr>
            </a:pPr>
            <a:r>
              <a:rPr dirty="0"/>
              <a:t>Backend &amp; Database</a:t>
            </a:r>
          </a:p>
          <a:p>
            <a:pPr>
              <a:spcAft>
                <a:spcPts val="300"/>
              </a:spcAft>
            </a:pPr>
            <a:r>
              <a:rPr sz="950" b="1" dirty="0">
                <a:solidFill>
                  <a:srgbClr val="1E293B"/>
                </a:solidFill>
                <a:latin typeface="Segoe UI"/>
              </a:rPr>
              <a:t>• Firebase Auth: </a:t>
            </a:r>
            <a:r>
              <a:rPr sz="900" dirty="0">
                <a:solidFill>
                  <a:srgbClr val="64748B"/>
                </a:solidFill>
                <a:latin typeface="Segoe UI"/>
              </a:rPr>
              <a:t>Email/password user authentication</a:t>
            </a:r>
          </a:p>
          <a:p>
            <a:pPr>
              <a:spcAft>
                <a:spcPts val="300"/>
              </a:spcAft>
            </a:pPr>
            <a:r>
              <a:rPr sz="950" b="1" dirty="0">
                <a:solidFill>
                  <a:srgbClr val="1E293B"/>
                </a:solidFill>
                <a:latin typeface="Segoe UI"/>
              </a:rPr>
              <a:t>• Cloud </a:t>
            </a:r>
            <a:r>
              <a:rPr sz="950" b="1" dirty="0" err="1">
                <a:solidFill>
                  <a:srgbClr val="1E293B"/>
                </a:solidFill>
                <a:latin typeface="Segoe UI"/>
              </a:rPr>
              <a:t>Firestore</a:t>
            </a:r>
            <a:r>
              <a:rPr sz="950" b="1" dirty="0">
                <a:solidFill>
                  <a:srgbClr val="1E293B"/>
                </a:solidFill>
                <a:latin typeface="Segoe UI"/>
              </a:rPr>
              <a:t>: </a:t>
            </a:r>
            <a:r>
              <a:rPr sz="900" dirty="0">
                <a:solidFill>
                  <a:srgbClr val="64748B"/>
                </a:solidFill>
                <a:latin typeface="Segoe UI"/>
              </a:rPr>
              <a:t>NoSQL chat history database</a:t>
            </a:r>
          </a:p>
          <a:p>
            <a:pPr>
              <a:spcAft>
                <a:spcPts val="300"/>
              </a:spcAft>
            </a:pPr>
            <a:r>
              <a:rPr sz="950" b="1" dirty="0">
                <a:solidFill>
                  <a:srgbClr val="1E293B"/>
                </a:solidFill>
                <a:latin typeface="Segoe UI"/>
              </a:rPr>
              <a:t>• </a:t>
            </a:r>
            <a:r>
              <a:rPr sz="950" b="1">
                <a:solidFill>
                  <a:srgbClr val="1E293B"/>
                </a:solidFill>
                <a:latin typeface="Segoe UI"/>
              </a:rPr>
              <a:t>Firebase Storage</a:t>
            </a:r>
            <a:r>
              <a:rPr lang="en-US" sz="950" b="1">
                <a:solidFill>
                  <a:srgbClr val="1E293B"/>
                </a:solidFill>
                <a:latin typeface="Segoe UI"/>
              </a:rPr>
              <a:t>0…………………….</a:t>
            </a:r>
            <a:r>
              <a:rPr sz="950" b="1">
                <a:solidFill>
                  <a:srgbClr val="1E293B"/>
                </a:solidFill>
                <a:latin typeface="Segoe UI"/>
              </a:rPr>
              <a:t>: </a:t>
            </a:r>
            <a:r>
              <a:rPr sz="900" dirty="0">
                <a:solidFill>
                  <a:srgbClr val="64748B"/>
                </a:solidFill>
                <a:latin typeface="Segoe UI"/>
              </a:rPr>
              <a:t>Official college PDF/doc storage</a:t>
            </a:r>
          </a:p>
          <a:p>
            <a:pPr>
              <a:spcAft>
                <a:spcPts val="300"/>
              </a:spcAft>
            </a:pPr>
            <a:r>
              <a:rPr sz="950" b="1" dirty="0">
                <a:solidFill>
                  <a:srgbClr val="1E293B"/>
                </a:solidFill>
                <a:latin typeface="Segoe UI"/>
              </a:rPr>
              <a:t>• Firebase Analytics: </a:t>
            </a:r>
            <a:r>
              <a:rPr sz="900" dirty="0">
                <a:solidFill>
                  <a:srgbClr val="64748B"/>
                </a:solidFill>
                <a:latin typeface="Segoe UI"/>
              </a:rPr>
              <a:t>Usage telemetry tracking</a:t>
            </a:r>
          </a:p>
          <a:p>
            <a:pPr>
              <a:spcAft>
                <a:spcPts val="300"/>
              </a:spcAft>
            </a:pPr>
            <a:r>
              <a:rPr sz="950" b="1" dirty="0">
                <a:solidFill>
                  <a:srgbClr val="1E293B"/>
                </a:solidFill>
                <a:latin typeface="Segoe UI"/>
              </a:rPr>
              <a:t>• Role Separation: </a:t>
            </a:r>
            <a:r>
              <a:rPr sz="900" dirty="0">
                <a:solidFill>
                  <a:srgbClr val="64748B"/>
                </a:solidFill>
                <a:latin typeface="Segoe UI"/>
              </a:rPr>
              <a:t>Student &amp; Admin shells</a:t>
            </a:r>
          </a:p>
          <a:p>
            <a:pPr>
              <a:spcAft>
                <a:spcPts val="300"/>
              </a:spcAft>
            </a:pPr>
            <a:r>
              <a:rPr sz="950" b="1" dirty="0">
                <a:solidFill>
                  <a:srgbClr val="1E293B"/>
                </a:solidFill>
                <a:latin typeface="Segoe UI"/>
              </a:rPr>
              <a:t>• Data Isolation: </a:t>
            </a:r>
            <a:r>
              <a:rPr sz="900" dirty="0">
                <a:solidFill>
                  <a:srgbClr val="64748B"/>
                </a:solidFill>
                <a:latin typeface="Segoe UI"/>
              </a:rPr>
              <a:t>Per-user conversation security</a:t>
            </a:r>
          </a:p>
        </p:txBody>
      </p:sp>
      <p:sp>
        <p:nvSpPr>
          <p:cNvPr id="9" name="Rounded Rectangle 8"/>
          <p:cNvSpPr/>
          <p:nvPr/>
        </p:nvSpPr>
        <p:spPr>
          <a:xfrm>
            <a:off x="6236208" y="1600200"/>
            <a:ext cx="246888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737360"/>
            <a:ext cx="2139696" cy="4206240"/>
          </a:xfrm>
          <a:prstGeom prst="rect">
            <a:avLst/>
          </a:prstGeom>
          <a:noFill/>
        </p:spPr>
        <p:txBody>
          <a:bodyPr wrap="square">
            <a:spAutoFit/>
          </a:bodyPr>
          <a:lstStyle/>
          <a:p>
            <a:pPr>
              <a:spcAft>
                <a:spcPts val="800"/>
              </a:spcAft>
              <a:defRPr sz="1200" b="1">
                <a:solidFill>
                  <a:srgbClr val="4338CA"/>
                </a:solidFill>
                <a:latin typeface="Segoe UI"/>
              </a:defRPr>
            </a:pPr>
            <a:r>
              <a:t>AI &amp; LLM Services</a:t>
            </a:r>
          </a:p>
          <a:p>
            <a:pPr>
              <a:spcAft>
                <a:spcPts val="300"/>
              </a:spcAft>
            </a:pPr>
            <a:r>
              <a:rPr sz="950" b="1">
                <a:solidFill>
                  <a:srgbClr val="1E293B"/>
                </a:solidFill>
                <a:latin typeface="Segoe UI"/>
              </a:rPr>
              <a:t>• Groq Cloud API: </a:t>
            </a:r>
            <a:r>
              <a:rPr sz="900">
                <a:solidFill>
                  <a:srgbClr val="64748B"/>
                </a:solidFill>
                <a:latin typeface="Segoe UI"/>
              </a:rPr>
              <a:t>High-speed LLM inference</a:t>
            </a:r>
          </a:p>
          <a:p>
            <a:pPr>
              <a:spcAft>
                <a:spcPts val="300"/>
              </a:spcAft>
            </a:pPr>
            <a:r>
              <a:rPr sz="950" b="1">
                <a:solidFill>
                  <a:srgbClr val="1E293B"/>
                </a:solidFill>
                <a:latin typeface="Segoe UI"/>
              </a:rPr>
              <a:t>• Primary Model: </a:t>
            </a:r>
            <a:r>
              <a:rPr sz="900">
                <a:solidFill>
                  <a:srgbClr val="64748B"/>
                </a:solidFill>
                <a:latin typeface="Segoe UI"/>
              </a:rPr>
              <a:t>openai/gpt-oss-120b</a:t>
            </a:r>
          </a:p>
          <a:p>
            <a:pPr>
              <a:spcAft>
                <a:spcPts val="300"/>
              </a:spcAft>
            </a:pPr>
            <a:r>
              <a:rPr sz="950" b="1">
                <a:solidFill>
                  <a:srgbClr val="1E293B"/>
                </a:solidFill>
                <a:latin typeface="Segoe UI"/>
              </a:rPr>
              <a:t>• Fallback Model 1: </a:t>
            </a:r>
            <a:r>
              <a:rPr sz="900">
                <a:solidFill>
                  <a:srgbClr val="64748B"/>
                </a:solidFill>
                <a:latin typeface="Segoe UI"/>
              </a:rPr>
              <a:t>openai/gpt-oss-20b</a:t>
            </a:r>
          </a:p>
          <a:p>
            <a:pPr>
              <a:spcAft>
                <a:spcPts val="300"/>
              </a:spcAft>
            </a:pPr>
            <a:r>
              <a:rPr sz="950" b="1">
                <a:solidFill>
                  <a:srgbClr val="1E293B"/>
                </a:solidFill>
                <a:latin typeface="Segoe UI"/>
              </a:rPr>
              <a:t>• Fallback Model 2: </a:t>
            </a:r>
            <a:r>
              <a:rPr sz="900">
                <a:solidFill>
                  <a:srgbClr val="64748B"/>
                </a:solidFill>
                <a:latin typeface="Segoe UI"/>
              </a:rPr>
              <a:t>groq/compound-mini</a:t>
            </a:r>
          </a:p>
          <a:p>
            <a:pPr>
              <a:spcAft>
                <a:spcPts val="300"/>
              </a:spcAft>
            </a:pPr>
            <a:r>
              <a:rPr sz="950" b="1">
                <a:solidFill>
                  <a:srgbClr val="1E293B"/>
                </a:solidFill>
                <a:latin typeface="Segoe UI"/>
              </a:rPr>
              <a:t>• KCT Knowledge Base: </a:t>
            </a:r>
            <a:r>
              <a:rPr sz="900">
                <a:solidFill>
                  <a:srgbClr val="64748B"/>
                </a:solidFill>
                <a:latin typeface="Segoe UI"/>
              </a:rPr>
              <a:t>Verified institutional context</a:t>
            </a:r>
          </a:p>
          <a:p>
            <a:pPr>
              <a:spcAft>
                <a:spcPts val="300"/>
              </a:spcAft>
            </a:pPr>
            <a:r>
              <a:rPr sz="950" b="1">
                <a:solidFill>
                  <a:srgbClr val="1E293B"/>
                </a:solidFill>
                <a:latin typeface="Segoe UI"/>
              </a:rPr>
              <a:t>• Bilingual Engine: </a:t>
            </a:r>
            <a:r>
              <a:rPr sz="900">
                <a:solidFill>
                  <a:srgbClr val="64748B"/>
                </a:solidFill>
                <a:latin typeface="Segoe UI"/>
              </a:rPr>
              <a:t>English &amp; Tamil/Tanglish support</a:t>
            </a:r>
          </a:p>
        </p:txBody>
      </p:sp>
      <p:sp>
        <p:nvSpPr>
          <p:cNvPr id="11" name="Rounded Rectangle 10"/>
          <p:cNvSpPr/>
          <p:nvPr/>
        </p:nvSpPr>
        <p:spPr>
          <a:xfrm>
            <a:off x="8988552" y="1600200"/>
            <a:ext cx="2468880"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53144" y="1737360"/>
            <a:ext cx="2139696" cy="4206240"/>
          </a:xfrm>
          <a:prstGeom prst="rect">
            <a:avLst/>
          </a:prstGeom>
          <a:noFill/>
        </p:spPr>
        <p:txBody>
          <a:bodyPr wrap="square">
            <a:spAutoFit/>
          </a:bodyPr>
          <a:lstStyle/>
          <a:p>
            <a:pPr>
              <a:spcAft>
                <a:spcPts val="800"/>
              </a:spcAft>
              <a:defRPr sz="1200" b="1">
                <a:solidFill>
                  <a:srgbClr val="4338CA"/>
                </a:solidFill>
                <a:latin typeface="Segoe UI"/>
              </a:defRPr>
            </a:pPr>
            <a:r>
              <a:t>Status Summary</a:t>
            </a:r>
          </a:p>
          <a:p>
            <a:pPr>
              <a:spcAft>
                <a:spcPts val="200"/>
              </a:spcAft>
              <a:defRPr sz="950" b="1">
                <a:solidFill>
                  <a:srgbClr val="047857"/>
                </a:solidFill>
                <a:latin typeface="Segoe UI"/>
              </a:defRPr>
            </a:pPr>
            <a:r>
              <a:t>CURRENTLY USED</a:t>
            </a:r>
          </a:p>
          <a:p>
            <a:pPr>
              <a:spcAft>
                <a:spcPts val="300"/>
              </a:spcAft>
              <a:defRPr sz="1000">
                <a:solidFill>
                  <a:srgbClr val="1E293B"/>
                </a:solidFill>
                <a:latin typeface="Segoe UI"/>
              </a:defRPr>
            </a:pPr>
            <a:r>
              <a:t>• React 19 + TypeScript + Vite</a:t>
            </a:r>
          </a:p>
          <a:p>
            <a:pPr>
              <a:spcAft>
                <a:spcPts val="300"/>
              </a:spcAft>
              <a:defRPr sz="1000">
                <a:solidFill>
                  <a:srgbClr val="1E293B"/>
                </a:solidFill>
                <a:latin typeface="Segoe UI"/>
              </a:defRPr>
            </a:pPr>
            <a:r>
              <a:t>• Firebase Auth &amp; Firestore</a:t>
            </a:r>
          </a:p>
          <a:p>
            <a:pPr>
              <a:spcAft>
                <a:spcPts val="300"/>
              </a:spcAft>
              <a:defRPr sz="1000">
                <a:solidFill>
                  <a:srgbClr val="1E293B"/>
                </a:solidFill>
                <a:latin typeface="Segoe UI"/>
              </a:defRPr>
            </a:pPr>
            <a:r>
              <a:t>• Groq LLM Multi-Model Engine</a:t>
            </a:r>
          </a:p>
          <a:p>
            <a:pPr>
              <a:spcAft>
                <a:spcPts val="200"/>
              </a:spcAft>
              <a:defRPr sz="950" b="1">
                <a:solidFill>
                  <a:srgbClr val="B45309"/>
                </a:solidFill>
                <a:latin typeface="Segoe UI"/>
              </a:defRPr>
            </a:pPr>
            <a:r>
              <a:t>PLANNED / FUTURE</a:t>
            </a:r>
          </a:p>
          <a:p>
            <a:pPr>
              <a:spcAft>
                <a:spcPts val="300"/>
              </a:spcAft>
              <a:defRPr sz="1000">
                <a:solidFill>
                  <a:srgbClr val="1E293B"/>
                </a:solidFill>
                <a:latin typeface="Segoe UI"/>
              </a:defRPr>
            </a:pPr>
            <a:r>
              <a:t>• Vector DB (RAG for PDF search)</a:t>
            </a:r>
          </a:p>
          <a:p>
            <a:pPr>
              <a:spcAft>
                <a:spcPts val="300"/>
              </a:spcAft>
              <a:defRPr sz="1000">
                <a:solidFill>
                  <a:srgbClr val="1E293B"/>
                </a:solidFill>
                <a:latin typeface="Segoe UI"/>
              </a:defRPr>
            </a:pPr>
            <a:r>
              <a:t>• Push Notifications (FCM)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Project Timeline &amp; Progress Status</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7 of 8</a:t>
            </a:r>
          </a:p>
        </p:txBody>
      </p:sp>
      <p:sp>
        <p:nvSpPr>
          <p:cNvPr id="5" name="Rounded Rectangle 4"/>
          <p:cNvSpPr/>
          <p:nvPr/>
        </p:nvSpPr>
        <p:spPr>
          <a:xfrm>
            <a:off x="731520" y="1600200"/>
            <a:ext cx="10728655" cy="2011680"/>
          </a:xfrm>
          <a:prstGeom prst="roundRect">
            <a:avLst/>
          </a:prstGeom>
          <a:solidFill>
            <a:srgbClr val="ECFDF5"/>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09928"/>
            <a:ext cx="10271455" cy="1792224"/>
          </a:xfrm>
          <a:prstGeom prst="rect">
            <a:avLst/>
          </a:prstGeom>
          <a:noFill/>
        </p:spPr>
        <p:txBody>
          <a:bodyPr wrap="square">
            <a:spAutoFit/>
          </a:bodyPr>
          <a:lstStyle/>
          <a:p>
            <a:pPr>
              <a:spcAft>
                <a:spcPts val="400"/>
              </a:spcAft>
              <a:defRPr sz="1100" b="1">
                <a:solidFill>
                  <a:srgbClr val="047857"/>
                </a:solidFill>
                <a:latin typeface="Segoe UI"/>
              </a:defRPr>
            </a:pPr>
            <a:r>
              <a:t>●  COMPLETED (Phase 0 — Current Status at 0th Review)</a:t>
            </a:r>
          </a:p>
          <a:p>
            <a:pPr>
              <a:spcAft>
                <a:spcPts val="200"/>
              </a:spcAft>
            </a:pPr>
            <a:r>
              <a:rPr sz="1000" b="1">
                <a:solidFill>
                  <a:srgbClr val="1E293B"/>
                </a:solidFill>
                <a:latin typeface="Segoe UI"/>
              </a:rPr>
              <a:t>[Week 1–2]  Problem Identification &amp; Domain Study — </a:t>
            </a:r>
            <a:r>
              <a:rPr sz="950">
                <a:solidFill>
                  <a:srgbClr val="64748B"/>
                </a:solidFill>
                <a:latin typeface="Segoe UI"/>
              </a:rPr>
              <a:t>Analyzed student query bottlenecks, 2-year MCA syllabus, and KCT academic rules.</a:t>
            </a:r>
          </a:p>
          <a:p>
            <a:pPr>
              <a:spcAft>
                <a:spcPts val="200"/>
              </a:spcAft>
            </a:pPr>
            <a:r>
              <a:rPr sz="1000" b="1">
                <a:solidFill>
                  <a:srgbClr val="1E293B"/>
                </a:solidFill>
                <a:latin typeface="Segoe UI"/>
              </a:rPr>
              <a:t>[Week 3–4]  UI/UX Design &amp; Frontend Prototyping — </a:t>
            </a:r>
            <a:r>
              <a:rPr sz="950">
                <a:solidFill>
                  <a:srgbClr val="64748B"/>
                </a:solidFill>
                <a:latin typeface="Segoe UI"/>
              </a:rPr>
              <a:t>Built responsive Student and Admin portals using React 19 and Tailwind CSS v4.</a:t>
            </a:r>
          </a:p>
          <a:p>
            <a:pPr>
              <a:spcAft>
                <a:spcPts val="200"/>
              </a:spcAft>
            </a:pPr>
            <a:r>
              <a:rPr sz="1000" b="1">
                <a:solidFill>
                  <a:srgbClr val="1E293B"/>
                </a:solidFill>
                <a:latin typeface="Segoe UI"/>
              </a:rPr>
              <a:t>[Week 5–6]  AI Integration &amp; Backend Setup — </a:t>
            </a:r>
            <a:r>
              <a:rPr sz="950">
                <a:solidFill>
                  <a:srgbClr val="64748B"/>
                </a:solidFill>
                <a:latin typeface="Segoe UI"/>
              </a:rPr>
              <a:t>Integrated Groq LLM API with multi-model fallback, Firebase Auth, and Firestore.</a:t>
            </a:r>
          </a:p>
        </p:txBody>
      </p:sp>
      <p:sp>
        <p:nvSpPr>
          <p:cNvPr id="7" name="Rounded Rectangle 6"/>
          <p:cNvSpPr/>
          <p:nvPr/>
        </p:nvSpPr>
        <p:spPr>
          <a:xfrm>
            <a:off x="731520" y="3721608"/>
            <a:ext cx="10728655" cy="1051560"/>
          </a:xfrm>
          <a:prstGeom prst="roundRect">
            <a:avLst/>
          </a:prstGeom>
          <a:solidFill>
            <a:srgbClr val="FEF3C7"/>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3831336"/>
            <a:ext cx="10271455" cy="832104"/>
          </a:xfrm>
          <a:prstGeom prst="rect">
            <a:avLst/>
          </a:prstGeom>
          <a:noFill/>
        </p:spPr>
        <p:txBody>
          <a:bodyPr wrap="square">
            <a:spAutoFit/>
          </a:bodyPr>
          <a:lstStyle/>
          <a:p>
            <a:pPr>
              <a:spcAft>
                <a:spcPts val="400"/>
              </a:spcAft>
              <a:defRPr sz="1100" b="1">
                <a:solidFill>
                  <a:srgbClr val="B45309"/>
                </a:solidFill>
                <a:latin typeface="Segoe UI"/>
              </a:defRPr>
            </a:pPr>
            <a:r>
              <a:t>●  CURRENTLY IN PROGRESS (Phase 1)</a:t>
            </a:r>
          </a:p>
          <a:p>
            <a:pPr>
              <a:spcAft>
                <a:spcPts val="200"/>
              </a:spcAft>
            </a:pPr>
            <a:r>
              <a:rPr sz="1000" b="1">
                <a:solidFill>
                  <a:srgbClr val="1E293B"/>
                </a:solidFill>
                <a:latin typeface="Segoe UI"/>
              </a:rPr>
              <a:t>[Week 7–8]  Knowledge Base Expansion &amp; Admin CRUD — </a:t>
            </a:r>
            <a:r>
              <a:rPr sz="950">
                <a:solidFill>
                  <a:srgbClr val="64748B"/>
                </a:solidFill>
                <a:latin typeface="Segoe UI"/>
              </a:rPr>
              <a:t>Enhancing verified KCT domain data and wiring dynamic FAQ and Notice management.</a:t>
            </a:r>
          </a:p>
        </p:txBody>
      </p:sp>
      <p:sp>
        <p:nvSpPr>
          <p:cNvPr id="9" name="Rounded Rectangle 8"/>
          <p:cNvSpPr/>
          <p:nvPr/>
        </p:nvSpPr>
        <p:spPr>
          <a:xfrm>
            <a:off x="731520" y="4882896"/>
            <a:ext cx="10728655" cy="150876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992624"/>
            <a:ext cx="10271455" cy="1289304"/>
          </a:xfrm>
          <a:prstGeom prst="rect">
            <a:avLst/>
          </a:prstGeom>
          <a:noFill/>
        </p:spPr>
        <p:txBody>
          <a:bodyPr wrap="square">
            <a:spAutoFit/>
          </a:bodyPr>
          <a:lstStyle/>
          <a:p>
            <a:pPr>
              <a:spcAft>
                <a:spcPts val="400"/>
              </a:spcAft>
              <a:defRPr sz="1100" b="1">
                <a:solidFill>
                  <a:srgbClr val="1D4ED8"/>
                </a:solidFill>
                <a:latin typeface="Segoe UI"/>
              </a:defRPr>
            </a:pPr>
            <a:r>
              <a:t>●  PLANNED / FUTURE WORK (Phase 2 &amp; 3)</a:t>
            </a:r>
          </a:p>
          <a:p>
            <a:pPr>
              <a:spcAft>
                <a:spcPts val="200"/>
              </a:spcAft>
            </a:pPr>
            <a:r>
              <a:rPr sz="1000" b="1">
                <a:solidFill>
                  <a:srgbClr val="1E293B"/>
                </a:solidFill>
                <a:latin typeface="Segoe UI"/>
              </a:rPr>
              <a:t>[Week 9–10]  Vector RAG Pipeline &amp; PDF Search — </a:t>
            </a:r>
            <a:r>
              <a:rPr sz="950">
                <a:solidFill>
                  <a:srgbClr val="64748B"/>
                </a:solidFill>
                <a:latin typeface="Segoe UI"/>
              </a:rPr>
              <a:t>Adding Retrieval-Augmented Generation for deep indexing of uploaded college PDFs.</a:t>
            </a:r>
          </a:p>
          <a:p>
            <a:pPr>
              <a:spcAft>
                <a:spcPts val="200"/>
              </a:spcAft>
            </a:pPr>
            <a:r>
              <a:rPr sz="1000" b="1">
                <a:solidFill>
                  <a:srgbClr val="1E293B"/>
                </a:solidFill>
                <a:latin typeface="Segoe UI"/>
              </a:rPr>
              <a:t>[Week 11–12]  Testing &amp; Security Hardening — </a:t>
            </a:r>
            <a:r>
              <a:rPr sz="950">
                <a:solidFill>
                  <a:srgbClr val="64748B"/>
                </a:solidFill>
                <a:latin typeface="Segoe UI"/>
              </a:rPr>
              <a:t>Performing usability testing, latency optimization, and role-based route security.</a:t>
            </a:r>
          </a:p>
          <a:p>
            <a:pPr>
              <a:spcAft>
                <a:spcPts val="200"/>
              </a:spcAft>
            </a:pPr>
            <a:r>
              <a:rPr sz="1000" b="1">
                <a:solidFill>
                  <a:srgbClr val="1E293B"/>
                </a:solidFill>
                <a:latin typeface="Segoe UI"/>
              </a:rPr>
              <a:t>[Week 13–14]  Deployment &amp; Final Documentation — </a:t>
            </a:r>
            <a:r>
              <a:rPr sz="950">
                <a:solidFill>
                  <a:srgbClr val="64748B"/>
                </a:solidFill>
                <a:latin typeface="Segoe UI"/>
              </a:rPr>
              <a:t>Hosting deployment, final project documentation, and final review presentation.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4338CA"/>
                </a:solidFill>
                <a:latin typeface="Segoe UI"/>
              </a:defRPr>
            </a:pPr>
            <a:r>
              <a:t>0TH PROJECT REVIEW • MCA (2026–2027)</a:t>
            </a:r>
          </a:p>
          <a:p>
            <a:pPr>
              <a:defRPr sz="2200" b="1">
                <a:solidFill>
                  <a:srgbClr val="0F172A"/>
                </a:solidFill>
                <a:latin typeface="Segoe UI"/>
              </a:defRPr>
            </a:pPr>
            <a:r>
              <a:t>Conclusion &amp; Next Steps</a:t>
            </a:r>
          </a:p>
        </p:txBody>
      </p:sp>
      <p:sp>
        <p:nvSpPr>
          <p:cNvPr id="3" name="Rectangle 2"/>
          <p:cNvSpPr/>
          <p:nvPr/>
        </p:nvSpPr>
        <p:spPr>
          <a:xfrm>
            <a:off x="731520" y="132588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6309360"/>
            <a:ext cx="10728655" cy="320040"/>
          </a:xfrm>
          <a:prstGeom prst="rect">
            <a:avLst/>
          </a:prstGeom>
          <a:noFill/>
        </p:spPr>
        <p:txBody>
          <a:bodyPr wrap="square" lIns="0" tIns="0" rIns="0" bIns="0">
            <a:spAutoFit/>
          </a:bodyPr>
          <a:lstStyle/>
          <a:p>
            <a:pPr>
              <a:defRPr sz="950">
                <a:solidFill>
                  <a:srgbClr val="64748B"/>
                </a:solidFill>
                <a:latin typeface="Segoe UI"/>
              </a:defRPr>
            </a:pPr>
            <a:r>
              <a:t>Kumaraguru College of Technology  •  Dept. of Computer Applications  •  0th Review (21/08/2026)      |      Slide 8 of 8</a:t>
            </a:r>
          </a:p>
        </p:txBody>
      </p:sp>
      <p:sp>
        <p:nvSpPr>
          <p:cNvPr id="5" name="Rounded Rectangle 4"/>
          <p:cNvSpPr/>
          <p:nvPr/>
        </p:nvSpPr>
        <p:spPr>
          <a:xfrm>
            <a:off x="731520" y="1600200"/>
            <a:ext cx="5166360" cy="1783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37360"/>
            <a:ext cx="4709160" cy="1508760"/>
          </a:xfrm>
          <a:prstGeom prst="rect">
            <a:avLst/>
          </a:prstGeom>
          <a:noFill/>
        </p:spPr>
        <p:txBody>
          <a:bodyPr wrap="square">
            <a:spAutoFit/>
          </a:bodyPr>
          <a:lstStyle/>
          <a:p>
            <a:pPr>
              <a:spcAft>
                <a:spcPts val="400"/>
              </a:spcAft>
              <a:defRPr sz="1200" b="1">
                <a:solidFill>
                  <a:srgbClr val="4338CA"/>
                </a:solidFill>
                <a:latin typeface="Segoe UI"/>
              </a:defRPr>
            </a:pPr>
            <a:r>
              <a:t>🎯 Project Goal</a:t>
            </a:r>
          </a:p>
          <a:p>
            <a:pPr>
              <a:spcAft>
                <a:spcPts val="200"/>
              </a:spcAft>
              <a:defRPr sz="1000">
                <a:solidFill>
                  <a:srgbClr val="1E293B"/>
                </a:solidFill>
                <a:latin typeface="Segoe UI"/>
              </a:defRPr>
            </a:pPr>
            <a:r>
              <a:t>•  Build an intelligent, bilingual 24/7 college assistant for Kumaraguru College of Technology.</a:t>
            </a:r>
          </a:p>
          <a:p>
            <a:pPr>
              <a:spcAft>
                <a:spcPts val="200"/>
              </a:spcAft>
              <a:defRPr sz="1000">
                <a:solidFill>
                  <a:srgbClr val="1E293B"/>
                </a:solidFill>
                <a:latin typeface="Segoe UI"/>
              </a:defRPr>
            </a:pPr>
            <a:r>
              <a:t>•  Provide instantaneous, verified answers to academic and administrative inquiries.</a:t>
            </a:r>
          </a:p>
        </p:txBody>
      </p:sp>
      <p:sp>
        <p:nvSpPr>
          <p:cNvPr id="7" name="Rounded Rectangle 6"/>
          <p:cNvSpPr/>
          <p:nvPr/>
        </p:nvSpPr>
        <p:spPr>
          <a:xfrm>
            <a:off x="6263640" y="1600200"/>
            <a:ext cx="5166360" cy="1783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737360"/>
            <a:ext cx="4709160" cy="1508760"/>
          </a:xfrm>
          <a:prstGeom prst="rect">
            <a:avLst/>
          </a:prstGeom>
          <a:noFill/>
        </p:spPr>
        <p:txBody>
          <a:bodyPr wrap="square">
            <a:spAutoFit/>
          </a:bodyPr>
          <a:lstStyle/>
          <a:p>
            <a:pPr>
              <a:spcAft>
                <a:spcPts val="400"/>
              </a:spcAft>
              <a:defRPr sz="1200" b="1">
                <a:solidFill>
                  <a:srgbClr val="4338CA"/>
                </a:solidFill>
                <a:latin typeface="Segoe UI"/>
              </a:defRPr>
            </a:pPr>
            <a:r>
              <a:t>✅ Current Status (0th Review)</a:t>
            </a:r>
          </a:p>
          <a:p>
            <a:pPr>
              <a:spcAft>
                <a:spcPts val="200"/>
              </a:spcAft>
              <a:defRPr sz="1000">
                <a:solidFill>
                  <a:srgbClr val="1E293B"/>
                </a:solidFill>
                <a:latin typeface="Segoe UI"/>
              </a:defRPr>
            </a:pPr>
            <a:r>
              <a:t>•  Complete Student and Admin portal UI developed with responsive design.</a:t>
            </a:r>
          </a:p>
          <a:p>
            <a:pPr>
              <a:spcAft>
                <a:spcPts val="200"/>
              </a:spcAft>
              <a:defRPr sz="1000">
                <a:solidFill>
                  <a:srgbClr val="1E293B"/>
                </a:solidFill>
                <a:latin typeface="Segoe UI"/>
              </a:defRPr>
            </a:pPr>
            <a:r>
              <a:t>•  Live Groq Cloud AI inference with verified KCT institutional context.</a:t>
            </a:r>
          </a:p>
          <a:p>
            <a:pPr>
              <a:spcAft>
                <a:spcPts val="200"/>
              </a:spcAft>
              <a:defRPr sz="1000">
                <a:solidFill>
                  <a:srgbClr val="1E293B"/>
                </a:solidFill>
                <a:latin typeface="Segoe UI"/>
              </a:defRPr>
            </a:pPr>
            <a:r>
              <a:t>•  Firebase Authentication and Firestore conversation history persistence integrated.</a:t>
            </a:r>
          </a:p>
        </p:txBody>
      </p:sp>
      <p:sp>
        <p:nvSpPr>
          <p:cNvPr id="9" name="Rounded Rectangle 8"/>
          <p:cNvSpPr/>
          <p:nvPr/>
        </p:nvSpPr>
        <p:spPr>
          <a:xfrm>
            <a:off x="731520" y="3611880"/>
            <a:ext cx="5166360" cy="1783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749040"/>
            <a:ext cx="4709160" cy="1508760"/>
          </a:xfrm>
          <a:prstGeom prst="rect">
            <a:avLst/>
          </a:prstGeom>
          <a:noFill/>
        </p:spPr>
        <p:txBody>
          <a:bodyPr wrap="square">
            <a:spAutoFit/>
          </a:bodyPr>
          <a:lstStyle/>
          <a:p>
            <a:pPr>
              <a:spcAft>
                <a:spcPts val="400"/>
              </a:spcAft>
              <a:defRPr sz="1200" b="1">
                <a:solidFill>
                  <a:srgbClr val="4338CA"/>
                </a:solidFill>
                <a:latin typeface="Segoe UI"/>
              </a:defRPr>
            </a:pPr>
            <a:r>
              <a:t>🌟 Expected Outcome</a:t>
            </a:r>
          </a:p>
          <a:p>
            <a:pPr>
              <a:spcAft>
                <a:spcPts val="200"/>
              </a:spcAft>
              <a:defRPr sz="1000">
                <a:solidFill>
                  <a:srgbClr val="1E293B"/>
                </a:solidFill>
                <a:latin typeface="Segoe UI"/>
              </a:defRPr>
            </a:pPr>
            <a:r>
              <a:t>•  Significant reduction in manual administrative inquiry workload.</a:t>
            </a:r>
          </a:p>
          <a:p>
            <a:pPr>
              <a:spcAft>
                <a:spcPts val="200"/>
              </a:spcAft>
              <a:defRPr sz="1000">
                <a:solidFill>
                  <a:srgbClr val="1E293B"/>
                </a:solidFill>
                <a:latin typeface="Segoe UI"/>
              </a:defRPr>
            </a:pPr>
            <a:r>
              <a:t>•  Easy, 24/7 access to verified college information for students in English &amp; Tamil.</a:t>
            </a:r>
          </a:p>
        </p:txBody>
      </p:sp>
      <p:sp>
        <p:nvSpPr>
          <p:cNvPr id="11" name="Rounded Rectangle 10"/>
          <p:cNvSpPr/>
          <p:nvPr/>
        </p:nvSpPr>
        <p:spPr>
          <a:xfrm>
            <a:off x="6263640" y="3611880"/>
            <a:ext cx="5166360" cy="1783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3749040"/>
            <a:ext cx="4709160" cy="1508760"/>
          </a:xfrm>
          <a:prstGeom prst="rect">
            <a:avLst/>
          </a:prstGeom>
          <a:noFill/>
        </p:spPr>
        <p:txBody>
          <a:bodyPr wrap="square">
            <a:spAutoFit/>
          </a:bodyPr>
          <a:lstStyle/>
          <a:p>
            <a:pPr>
              <a:spcAft>
                <a:spcPts val="400"/>
              </a:spcAft>
              <a:defRPr sz="1200" b="1">
                <a:solidFill>
                  <a:srgbClr val="4338CA"/>
                </a:solidFill>
                <a:latin typeface="Segoe UI"/>
              </a:defRPr>
            </a:pPr>
            <a:r>
              <a:t>🚀 Future Work</a:t>
            </a:r>
          </a:p>
          <a:p>
            <a:pPr>
              <a:spcAft>
                <a:spcPts val="200"/>
              </a:spcAft>
              <a:defRPr sz="1000">
                <a:solidFill>
                  <a:srgbClr val="1E293B"/>
                </a:solidFill>
                <a:latin typeface="Segoe UI"/>
              </a:defRPr>
            </a:pPr>
            <a:r>
              <a:t>•  Implement Vector RAG for dynamic search inside uploaded PDF documents.</a:t>
            </a:r>
          </a:p>
          <a:p>
            <a:pPr>
              <a:spcAft>
                <a:spcPts val="200"/>
              </a:spcAft>
              <a:defRPr sz="1000">
                <a:solidFill>
                  <a:srgbClr val="1E293B"/>
                </a:solidFill>
                <a:latin typeface="Segoe UI"/>
              </a:defRPr>
            </a:pPr>
            <a:r>
              <a:t>•  Add voice query input and push notifications for urgent college announcements.</a:t>
            </a:r>
          </a:p>
        </p:txBody>
      </p:sp>
      <p:sp>
        <p:nvSpPr>
          <p:cNvPr id="13" name="Rounded Rectangle 12"/>
          <p:cNvSpPr/>
          <p:nvPr/>
        </p:nvSpPr>
        <p:spPr>
          <a:xfrm>
            <a:off x="731520" y="5532120"/>
            <a:ext cx="10728655" cy="640080"/>
          </a:xfrm>
          <a:prstGeom prst="roundRect">
            <a:avLst/>
          </a:prstGeom>
          <a:solidFill>
            <a:srgbClr val="0F172A"/>
          </a:solidFill>
          <a:ln w="127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596128"/>
            <a:ext cx="10362895" cy="502920"/>
          </a:xfrm>
          <a:prstGeom prst="rect">
            <a:avLst/>
          </a:prstGeom>
          <a:noFill/>
        </p:spPr>
        <p:txBody>
          <a:bodyPr wrap="square">
            <a:spAutoFit/>
          </a:bodyPr>
          <a:lstStyle/>
          <a:p>
            <a:pPr algn="ctr">
              <a:defRPr sz="1100" b="1">
                <a:solidFill>
                  <a:srgbClr val="FFFFFF"/>
                </a:solidFill>
                <a:latin typeface="Segoe UI"/>
              </a:defRPr>
            </a:pPr>
            <a:r>
              <a:t>“The proposed system aims to provide an efficient, scalable, and user-friendly solution to institutional information access and administrative query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TotalTime>
  <Words>1462</Words>
  <Application>Microsoft Office PowerPoint</Application>
  <PresentationFormat>Widescreen</PresentationFormat>
  <Paragraphs>136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shree sabhari karunanidhi</cp:lastModifiedBy>
  <cp:revision>2</cp:revision>
  <dcterms:created xsi:type="dcterms:W3CDTF">2013-01-27T09:14:16Z</dcterms:created>
  <dcterms:modified xsi:type="dcterms:W3CDTF">2026-08-21T06:50:48Z</dcterms:modified>
  <cp:category/>
</cp:coreProperties>
</file>